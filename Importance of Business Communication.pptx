
<file path=[Content_Types].xml><?xml version="1.0" encoding="utf-8"?>
<Types xmlns="http://schemas.openxmlformats.org/package/2006/content-types">
  <Default Extension="png" ContentType="image/png"/>
  <Default Extension="jfif" ContentType="image/jpe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70" d="100"/>
          <a:sy n="70" d="100"/>
        </p:scale>
        <p:origin x="738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1/8/2020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1/8/2020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1/8/2020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f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85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8926" y="286006"/>
            <a:ext cx="9635319" cy="2880275"/>
          </a:xfrm>
          <a:prstGeom prst="rect">
            <a:avLst/>
          </a:prstGeom>
          <a:effectLst>
            <a:reflection endPos="65000" dist="50800" dir="5400000" sy="-100000" algn="bl" rotWithShape="0"/>
          </a:effec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724781" cy="2262779"/>
          </a:xfrm>
        </p:spPr>
        <p:txBody>
          <a:bodyPr>
            <a:normAutofit/>
          </a:bodyPr>
          <a:lstStyle/>
          <a:p>
            <a:r>
              <a:rPr lang="en-US" sz="6000" dirty="0" smtClean="0">
                <a:solidFill>
                  <a:schemeClr val="accent3"/>
                </a:solidFill>
              </a:rPr>
              <a:t>Importance of Business Communication</a:t>
            </a:r>
            <a:endParaRPr lang="en-US" sz="6000" dirty="0">
              <a:solidFill>
                <a:schemeClr val="accent3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06873" y="4777379"/>
            <a:ext cx="3197739" cy="1494632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By:-</a:t>
            </a:r>
          </a:p>
          <a:p>
            <a:r>
              <a:rPr lang="en-US" dirty="0" err="1" smtClean="0"/>
              <a:t>Soumik</a:t>
            </a:r>
            <a:r>
              <a:rPr lang="en-US" dirty="0" smtClean="0"/>
              <a:t> Chakraborty</a:t>
            </a:r>
          </a:p>
          <a:p>
            <a:r>
              <a:rPr lang="en-US" dirty="0" err="1" smtClean="0"/>
              <a:t>M.Tech</a:t>
            </a:r>
            <a:r>
              <a:rPr lang="en-US" dirty="0" smtClean="0"/>
              <a:t> </a:t>
            </a:r>
            <a:r>
              <a:rPr lang="en-US" dirty="0" smtClean="0"/>
              <a:t>(GIS) </a:t>
            </a:r>
            <a:endParaRPr lang="en-US" dirty="0" smtClean="0"/>
          </a:p>
          <a:p>
            <a:r>
              <a:rPr lang="en-US" dirty="0" err="1" smtClean="0"/>
              <a:t>Neemrana</a:t>
            </a:r>
            <a:r>
              <a:rPr lang="en-US" dirty="0" smtClean="0"/>
              <a:t>, Rajasthan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884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7777" y="224866"/>
            <a:ext cx="8911687" cy="1280890"/>
          </a:xfrm>
        </p:spPr>
        <p:txBody>
          <a:bodyPr/>
          <a:lstStyle/>
          <a:p>
            <a:r>
              <a:rPr lang="en-US" dirty="0" smtClean="0"/>
              <a:t>Business Communication- Origin &amp; Entomology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06815" y="2422192"/>
            <a:ext cx="6388888" cy="1845972"/>
          </a:xfrm>
        </p:spPr>
        <p:txBody>
          <a:bodyPr/>
          <a:lstStyle/>
          <a:p>
            <a:pPr algn="just"/>
            <a:r>
              <a:rPr lang="en-US" dirty="0"/>
              <a:t>Old English </a:t>
            </a:r>
            <a:r>
              <a:rPr lang="en-US" b="1" i="1" dirty="0" err="1"/>
              <a:t>bisignis</a:t>
            </a:r>
            <a:r>
              <a:rPr lang="en-US" i="1" dirty="0"/>
              <a:t> </a:t>
            </a:r>
            <a:r>
              <a:rPr lang="en-US" dirty="0"/>
              <a:t>‘</a:t>
            </a:r>
            <a:r>
              <a:rPr lang="en-US" b="1" dirty="0"/>
              <a:t>anxiety</a:t>
            </a:r>
            <a:r>
              <a:rPr lang="en-US" dirty="0"/>
              <a:t>’ (see busy, -ness); the sense ‘</a:t>
            </a:r>
            <a:r>
              <a:rPr lang="en-US" b="1" dirty="0"/>
              <a:t>state of being busy</a:t>
            </a:r>
            <a:r>
              <a:rPr lang="en-US" dirty="0"/>
              <a:t>’ was used from Middle English down to the 18th century, but is now differentiated as </a:t>
            </a:r>
            <a:r>
              <a:rPr lang="en-US" i="1" dirty="0"/>
              <a:t>busyness</a:t>
            </a:r>
            <a:r>
              <a:rPr lang="en-US" dirty="0"/>
              <a:t> . The meaning of this word eventually evolved to “occupation” and then “trade”.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723" y="1505756"/>
            <a:ext cx="2996109" cy="261548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688" y="4415087"/>
            <a:ext cx="5075357" cy="2101623"/>
          </a:xfrm>
          <a:prstGeom prst="rect">
            <a:avLst/>
          </a:prstGeom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5509045" y="4415087"/>
            <a:ext cx="6388888" cy="18459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b="1" i="1" dirty="0" err="1"/>
              <a:t>Communis</a:t>
            </a:r>
            <a:r>
              <a:rPr lang="en-US" dirty="0"/>
              <a:t> is noun word, which means </a:t>
            </a:r>
            <a:r>
              <a:rPr lang="en-US" dirty="0" smtClean="0"/>
              <a:t>‘</a:t>
            </a:r>
            <a:r>
              <a:rPr lang="en-US" b="1" dirty="0" smtClean="0"/>
              <a:t>common</a:t>
            </a:r>
            <a:r>
              <a:rPr lang="en-US" b="1" dirty="0"/>
              <a:t>, </a:t>
            </a:r>
            <a:r>
              <a:rPr lang="en-US" b="1" dirty="0" err="1"/>
              <a:t>communiality</a:t>
            </a:r>
            <a:r>
              <a:rPr lang="en-US" dirty="0"/>
              <a:t> or </a:t>
            </a:r>
            <a:r>
              <a:rPr lang="en-US" b="1" dirty="0" smtClean="0"/>
              <a:t>sharing’</a:t>
            </a:r>
            <a:r>
              <a:rPr lang="en-US" dirty="0" smtClean="0"/>
              <a:t>. </a:t>
            </a:r>
            <a:r>
              <a:rPr lang="en-US" b="1" i="1" dirty="0" err="1" smtClean="0"/>
              <a:t>Communicare</a:t>
            </a:r>
            <a:r>
              <a:rPr lang="en-US" dirty="0" smtClean="0"/>
              <a:t> </a:t>
            </a:r>
            <a:r>
              <a:rPr lang="en-US" dirty="0"/>
              <a:t>is a verb, which means </a:t>
            </a:r>
            <a:r>
              <a:rPr lang="en-US" b="1" dirty="0"/>
              <a:t>'make something common</a:t>
            </a:r>
            <a:r>
              <a:rPr lang="en-US" dirty="0"/>
              <a:t>'. Some scholars relate the term communication with an English word community. Community members have something common to each other. 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5406815" y="970161"/>
            <a:ext cx="6388888" cy="11998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516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0496" y="206062"/>
            <a:ext cx="8911687" cy="1280890"/>
          </a:xfrm>
        </p:spPr>
        <p:txBody>
          <a:bodyPr/>
          <a:lstStyle/>
          <a:p>
            <a:r>
              <a:rPr lang="en-US" dirty="0" smtClean="0"/>
              <a:t>Communication in Context of Business</a:t>
            </a:r>
            <a:br>
              <a:rPr lang="en-US" dirty="0" smtClean="0"/>
            </a:br>
            <a:r>
              <a:rPr lang="en-US" dirty="0" smtClean="0"/>
              <a:t>What &amp; Why?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6608" y="1486952"/>
            <a:ext cx="9217828" cy="537104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i="1" dirty="0" smtClean="0"/>
              <a:t>“</a:t>
            </a:r>
            <a:r>
              <a:rPr lang="en-US" i="1" dirty="0"/>
              <a:t>Communication is a continuing and thinking process dealing with the transmission and interchange with understanding of ideas, facts and courses of action.” George R. </a:t>
            </a:r>
            <a:r>
              <a:rPr lang="en-US" i="1" dirty="0" smtClean="0"/>
              <a:t>Terry</a:t>
            </a:r>
          </a:p>
          <a:p>
            <a:pPr marL="0" indent="0" algn="just">
              <a:buNone/>
            </a:pPr>
            <a:r>
              <a:rPr lang="en-US" b="1" dirty="0"/>
              <a:t>Business communication is the process of sharing information between people within and outside a company.</a:t>
            </a:r>
            <a:endParaRPr lang="en-US" dirty="0"/>
          </a:p>
          <a:p>
            <a:pPr algn="just"/>
            <a:r>
              <a:rPr lang="en-US" dirty="0" smtClean="0"/>
              <a:t>Examples:- </a:t>
            </a:r>
            <a:r>
              <a:rPr lang="en-US" dirty="0"/>
              <a:t>Managers need to communicate with supervisors who need to communicate with their </a:t>
            </a:r>
            <a:r>
              <a:rPr lang="en-US" dirty="0" smtClean="0"/>
              <a:t>teams. </a:t>
            </a:r>
            <a:r>
              <a:rPr lang="en-US" dirty="0"/>
              <a:t>Colleagues need to communicate with each other.</a:t>
            </a:r>
            <a:r>
              <a:rPr lang="en-US" dirty="0" smtClean="0"/>
              <a:t> Hiring of trained third party companies to smoothen up the Hiring and Firing of employees etc.</a:t>
            </a:r>
          </a:p>
          <a:p>
            <a:pPr algn="just"/>
            <a:r>
              <a:rPr lang="en-US" b="1" dirty="0"/>
              <a:t>Effective business communication </a:t>
            </a:r>
            <a:r>
              <a:rPr lang="en-US" dirty="0"/>
              <a:t>is how employees and management interact to reach organizational goals. Its purpose is to improve organizational practices and reduce errors</a:t>
            </a:r>
            <a:r>
              <a:rPr lang="en-US" dirty="0" smtClean="0"/>
              <a:t>.</a:t>
            </a:r>
          </a:p>
          <a:p>
            <a:pPr algn="just"/>
            <a:r>
              <a:rPr lang="en-US" dirty="0"/>
              <a:t>The importance of business communication also lies </a:t>
            </a:r>
            <a:r>
              <a:rPr lang="en-US" dirty="0" smtClean="0"/>
              <a:t>in:- Presenting </a:t>
            </a:r>
            <a:r>
              <a:rPr lang="en-US" dirty="0"/>
              <a:t>options/new business </a:t>
            </a:r>
            <a:r>
              <a:rPr lang="en-US" dirty="0" smtClean="0"/>
              <a:t>ideas, making </a:t>
            </a:r>
            <a:r>
              <a:rPr lang="en-US" dirty="0"/>
              <a:t>plans and proposals (business </a:t>
            </a:r>
            <a:r>
              <a:rPr lang="en-US" dirty="0" smtClean="0"/>
              <a:t>writing), executing decisions, reaching agreements, sending </a:t>
            </a:r>
            <a:r>
              <a:rPr lang="en-US" dirty="0"/>
              <a:t>and fulfilling </a:t>
            </a:r>
            <a:r>
              <a:rPr lang="en-US" dirty="0" smtClean="0"/>
              <a:t>orders, successful selling, effective meetings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8060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6764" y="187382"/>
            <a:ext cx="9403457" cy="172330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HOW Business Communication? </a:t>
            </a:r>
            <a:br>
              <a:rPr lang="en-US" dirty="0" smtClean="0"/>
            </a:br>
            <a:r>
              <a:rPr lang="en-US" dirty="0" smtClean="0">
                <a:solidFill>
                  <a:schemeClr val="tx1"/>
                </a:solidFill>
              </a:rPr>
              <a:t>depends </a:t>
            </a:r>
            <a:r>
              <a:rPr lang="en-US" dirty="0">
                <a:solidFill>
                  <a:schemeClr val="tx1"/>
                </a:solidFill>
              </a:rPr>
              <a:t>on the functions performed </a:t>
            </a:r>
            <a:r>
              <a:rPr lang="en-US" dirty="0" smtClean="0">
                <a:solidFill>
                  <a:schemeClr val="tx1"/>
                </a:solidFill>
              </a:rPr>
              <a:t>by communication</a:t>
            </a:r>
            <a:r>
              <a:rPr lang="en-US" dirty="0">
                <a:solidFill>
                  <a:schemeClr val="tx1"/>
                </a:solidFill>
              </a:rPr>
              <a:t>. These functions are as follows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71599" y="1910687"/>
            <a:ext cx="4043600" cy="2342865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1. Provide </a:t>
            </a:r>
            <a:r>
              <a:rPr lang="en-US" dirty="0"/>
              <a:t>and receive information </a:t>
            </a:r>
          </a:p>
          <a:p>
            <a:pPr marL="0" indent="0">
              <a:buNone/>
            </a:pPr>
            <a:r>
              <a:rPr lang="en-US" dirty="0"/>
              <a:t>2. Collect and sift information </a:t>
            </a:r>
          </a:p>
          <a:p>
            <a:r>
              <a:rPr lang="en-US" dirty="0" smtClean="0"/>
              <a:t>using </a:t>
            </a:r>
            <a:r>
              <a:rPr lang="en-US" dirty="0"/>
              <a:t>external and internal sources </a:t>
            </a:r>
          </a:p>
          <a:p>
            <a:r>
              <a:rPr lang="en-US" dirty="0" smtClean="0"/>
              <a:t>through </a:t>
            </a:r>
            <a:r>
              <a:rPr lang="en-US" dirty="0"/>
              <a:t>different medium </a:t>
            </a:r>
          </a:p>
          <a:p>
            <a:r>
              <a:rPr lang="en-US" dirty="0" smtClean="0"/>
              <a:t>through </a:t>
            </a:r>
            <a:r>
              <a:rPr lang="en-US" dirty="0"/>
              <a:t>different media 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745" y="1755819"/>
            <a:ext cx="2424911" cy="2424911"/>
          </a:xfrm>
          <a:prstGeom prst="rect">
            <a:avLst/>
          </a:prstGeom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7575332" y="1937983"/>
            <a:ext cx="4448345" cy="289332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 smtClean="0"/>
              <a:t> How</a:t>
            </a:r>
            <a:r>
              <a:rPr lang="en-US" b="1" dirty="0"/>
              <a:t>? </a:t>
            </a:r>
          </a:p>
          <a:p>
            <a:r>
              <a:rPr lang="en-US" dirty="0"/>
              <a:t>By Continual Education Process and Updating Knowledge through- </a:t>
            </a:r>
          </a:p>
          <a:p>
            <a:r>
              <a:rPr lang="en-US" dirty="0" smtClean="0"/>
              <a:t>Seminars </a:t>
            </a:r>
            <a:endParaRPr lang="en-US" dirty="0"/>
          </a:p>
          <a:p>
            <a:r>
              <a:rPr lang="en-US" dirty="0" smtClean="0"/>
              <a:t>Conferences </a:t>
            </a:r>
            <a:endParaRPr lang="en-US" dirty="0"/>
          </a:p>
          <a:p>
            <a:r>
              <a:rPr lang="en-US" dirty="0" smtClean="0"/>
              <a:t>Refresher </a:t>
            </a:r>
            <a:r>
              <a:rPr lang="en-US" dirty="0"/>
              <a:t>Courses </a:t>
            </a:r>
          </a:p>
          <a:p>
            <a:r>
              <a:rPr lang="en-US" dirty="0" smtClean="0"/>
              <a:t>Workshops </a:t>
            </a:r>
            <a:endParaRPr lang="en-US" dirty="0"/>
          </a:p>
          <a:p>
            <a:r>
              <a:rPr lang="en-US" dirty="0" smtClean="0"/>
              <a:t>Advertisements</a:t>
            </a:r>
            <a:r>
              <a:rPr lang="en-US" dirty="0"/>
              <a:t>, articles, informative talks, etc. outside the organization </a:t>
            </a:r>
          </a:p>
          <a:p>
            <a:endParaRPr lang="en-US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5293400" y="5154305"/>
            <a:ext cx="4355568" cy="12601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 smtClean="0"/>
              <a:t>Results</a:t>
            </a:r>
            <a:r>
              <a:rPr lang="en-US" dirty="0" smtClean="0"/>
              <a:t>- </a:t>
            </a:r>
            <a:r>
              <a:rPr lang="en-US" dirty="0"/>
              <a:t>Decision Making after identifying, analyzing and evaluating </a:t>
            </a:r>
          </a:p>
          <a:p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745" y="4112491"/>
            <a:ext cx="4229326" cy="2832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017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2423" y="378450"/>
            <a:ext cx="8911687" cy="1280890"/>
          </a:xfrm>
        </p:spPr>
        <p:txBody>
          <a:bodyPr/>
          <a:lstStyle/>
          <a:p>
            <a:r>
              <a:rPr lang="en-US" dirty="0" smtClean="0"/>
              <a:t>Controlling Factors of Business Communication: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15806" y="5179181"/>
            <a:ext cx="8588304" cy="1674126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Results: Discipline, uniformity and systematic </a:t>
            </a:r>
            <a:r>
              <a:rPr lang="en-US" dirty="0" err="1"/>
              <a:t>behaviour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874" y="1714956"/>
            <a:ext cx="4170853" cy="208014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0126" y="1964712"/>
            <a:ext cx="6448425" cy="925058"/>
          </a:xfrm>
          <a:prstGeom prst="rect">
            <a:avLst/>
          </a:prstGeom>
        </p:spPr>
      </p:pic>
      <p:sp>
        <p:nvSpPr>
          <p:cNvPr id="7" name="Right Arrow 6"/>
          <p:cNvSpPr/>
          <p:nvPr/>
        </p:nvSpPr>
        <p:spPr>
          <a:xfrm rot="1801890">
            <a:off x="4114018" y="4177456"/>
            <a:ext cx="1119509" cy="484632"/>
          </a:xfrm>
          <a:prstGeom prst="rightArrow">
            <a:avLst>
              <a:gd name="adj1" fmla="val 44368"/>
              <a:gd name="adj2" fmla="val 75345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/>
          <p:cNvSpPr/>
          <p:nvPr/>
        </p:nvSpPr>
        <p:spPr>
          <a:xfrm rot="7765783">
            <a:off x="5252180" y="3639473"/>
            <a:ext cx="2170152" cy="484632"/>
          </a:xfrm>
          <a:prstGeom prst="rightArrow">
            <a:avLst>
              <a:gd name="adj1" fmla="val 44368"/>
              <a:gd name="adj2" fmla="val 75345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Down Arrow 8"/>
          <p:cNvSpPr/>
          <p:nvPr/>
        </p:nvSpPr>
        <p:spPr>
          <a:xfrm>
            <a:off x="5125494" y="4733133"/>
            <a:ext cx="484632" cy="746522"/>
          </a:xfrm>
          <a:prstGeom prst="down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837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516" y="296564"/>
            <a:ext cx="9048015" cy="128089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Key Ingredient for Business Communication?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(Motivation)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99045" y="1577453"/>
            <a:ext cx="6618712" cy="851847"/>
          </a:xfrm>
        </p:spPr>
        <p:txBody>
          <a:bodyPr>
            <a:normAutofit fontScale="92500" lnSpcReduction="10000"/>
          </a:bodyPr>
          <a:lstStyle/>
          <a:p>
            <a:r>
              <a:rPr lang="en-US" i="1" dirty="0"/>
              <a:t>All business is goal oriented, to achieve target within a framework of </a:t>
            </a:r>
            <a:r>
              <a:rPr lang="en-US" i="1" dirty="0" smtClean="0"/>
              <a:t>time </a:t>
            </a:r>
            <a:r>
              <a:rPr lang="en-US" dirty="0" smtClean="0"/>
              <a:t>by </a:t>
            </a:r>
            <a:r>
              <a:rPr lang="en-US" dirty="0"/>
              <a:t>Robins </a:t>
            </a:r>
            <a:r>
              <a:rPr lang="en-US" dirty="0" smtClean="0"/>
              <a:t>. best </a:t>
            </a:r>
            <a:r>
              <a:rPr lang="en-US" dirty="0"/>
              <a:t>of the </a:t>
            </a:r>
            <a:r>
              <a:rPr lang="en-US" dirty="0" smtClean="0"/>
              <a:t>workers </a:t>
            </a:r>
            <a:r>
              <a:rPr lang="en-US" dirty="0" smtClean="0">
                <a:sym typeface="Wingdings" panose="05000000000000000000" pitchFamily="2" charset="2"/>
              </a:rPr>
              <a:t></a:t>
            </a:r>
            <a:r>
              <a:rPr lang="en-US" dirty="0" smtClean="0"/>
              <a:t>                motivated </a:t>
            </a:r>
            <a:r>
              <a:rPr lang="en-US" dirty="0"/>
              <a:t>workers </a:t>
            </a:r>
          </a:p>
          <a:p>
            <a:endParaRPr lang="en-US" i="1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033516" y="1577454"/>
            <a:ext cx="1730991" cy="55853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 smtClean="0"/>
              <a:t>What?</a:t>
            </a:r>
            <a:endParaRPr lang="en-US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2033515" y="2858344"/>
            <a:ext cx="1730991" cy="57704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 smtClean="0"/>
              <a:t>Why?</a:t>
            </a:r>
            <a:endParaRPr lang="en-US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4109114" y="2521423"/>
            <a:ext cx="6998575" cy="14940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To Motivate is to Teach how to move towards success and to motivate the instructor who should be willing to teach the </a:t>
            </a:r>
            <a:r>
              <a:rPr lang="en-US" dirty="0" smtClean="0"/>
              <a:t>workers- </a:t>
            </a:r>
            <a:r>
              <a:rPr lang="en-US" b="1" i="1" dirty="0" smtClean="0"/>
              <a:t>“</a:t>
            </a:r>
            <a:r>
              <a:rPr lang="en-US" b="1" i="1" dirty="0"/>
              <a:t>Actions speak louder than the Words.” </a:t>
            </a:r>
            <a:r>
              <a:rPr lang="en-US" dirty="0" smtClean="0"/>
              <a:t>Persuasion </a:t>
            </a:r>
            <a:r>
              <a:rPr lang="en-US" dirty="0"/>
              <a:t>(</a:t>
            </a:r>
            <a:r>
              <a:rPr lang="en-US" dirty="0" err="1" smtClean="0"/>
              <a:t>Mrs.Urmila</a:t>
            </a:r>
            <a:r>
              <a:rPr lang="en-US" dirty="0" smtClean="0"/>
              <a:t> </a:t>
            </a:r>
            <a:r>
              <a:rPr lang="en-US" dirty="0"/>
              <a:t>Rai) </a:t>
            </a:r>
            <a:endParaRPr lang="en-US" i="1" dirty="0"/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2131324" y="4166960"/>
            <a:ext cx="1730991" cy="68195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 smtClean="0"/>
              <a:t>How?</a:t>
            </a:r>
            <a:endParaRPr lang="en-US" dirty="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4299046" y="4107623"/>
            <a:ext cx="7423244" cy="259342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 smtClean="0"/>
              <a:t>Concept </a:t>
            </a:r>
            <a:r>
              <a:rPr lang="en-US" b="1" dirty="0"/>
              <a:t>of Reward and Punishment </a:t>
            </a:r>
            <a:endParaRPr lang="en-US" dirty="0"/>
          </a:p>
          <a:p>
            <a:pPr algn="just"/>
            <a:r>
              <a:rPr lang="en-US" dirty="0" smtClean="0"/>
              <a:t>Reward</a:t>
            </a:r>
            <a:r>
              <a:rPr lang="en-US" dirty="0"/>
              <a:t>/ Incentives more effective and productive </a:t>
            </a:r>
          </a:p>
          <a:p>
            <a:pPr algn="just"/>
            <a:r>
              <a:rPr lang="en-US" dirty="0" smtClean="0"/>
              <a:t>Cash </a:t>
            </a:r>
            <a:r>
              <a:rPr lang="en-US" dirty="0"/>
              <a:t>Reward </a:t>
            </a:r>
            <a:r>
              <a:rPr lang="en-US" dirty="0" smtClean="0">
                <a:sym typeface="Wingdings" panose="05000000000000000000" pitchFamily="2" charset="2"/>
              </a:rPr>
              <a:t> </a:t>
            </a:r>
            <a:r>
              <a:rPr lang="en-US" dirty="0" smtClean="0"/>
              <a:t>Happy </a:t>
            </a:r>
            <a:r>
              <a:rPr lang="en-US" dirty="0" smtClean="0">
                <a:sym typeface="Wingdings" panose="05000000000000000000" pitchFamily="2" charset="2"/>
              </a:rPr>
              <a:t> </a:t>
            </a:r>
            <a:r>
              <a:rPr lang="en-US" dirty="0" smtClean="0"/>
              <a:t>encouraged </a:t>
            </a:r>
            <a:r>
              <a:rPr lang="en-US" dirty="0" smtClean="0">
                <a:sym typeface="Wingdings" panose="05000000000000000000" pitchFamily="2" charset="2"/>
              </a:rPr>
              <a:t></a:t>
            </a:r>
            <a:r>
              <a:rPr lang="en-US" dirty="0" smtClean="0"/>
              <a:t> </a:t>
            </a:r>
            <a:r>
              <a:rPr lang="en-US" dirty="0"/>
              <a:t>Success </a:t>
            </a:r>
          </a:p>
          <a:p>
            <a:pPr algn="just"/>
            <a:r>
              <a:rPr lang="en-US" dirty="0" smtClean="0"/>
              <a:t>Positive </a:t>
            </a:r>
            <a:r>
              <a:rPr lang="en-US" dirty="0"/>
              <a:t>Attitude, Emphatic Listening, Encouragement- rewards (cash, holiday trips (abroad), holiday resorts, furnishing allowances, quick promotion) </a:t>
            </a:r>
          </a:p>
          <a:p>
            <a:pPr algn="just"/>
            <a:r>
              <a:rPr lang="en-US" dirty="0" smtClean="0"/>
              <a:t>Motivation </a:t>
            </a:r>
            <a:r>
              <a:rPr lang="en-US" dirty="0"/>
              <a:t>to earn perks, bonus, holiday package </a:t>
            </a:r>
          </a:p>
          <a:p>
            <a:pPr algn="just"/>
            <a:r>
              <a:rPr lang="en-US" dirty="0" smtClean="0"/>
              <a:t>Value </a:t>
            </a:r>
            <a:r>
              <a:rPr lang="en-US" dirty="0"/>
              <a:t>and image of the organization 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2414378" y="4915133"/>
            <a:ext cx="484632" cy="978408"/>
          </a:xfrm>
          <a:prstGeom prst="down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own Arrow 12"/>
          <p:cNvSpPr/>
          <p:nvPr/>
        </p:nvSpPr>
        <p:spPr>
          <a:xfrm>
            <a:off x="2439333" y="3381962"/>
            <a:ext cx="484632" cy="978408"/>
          </a:xfrm>
          <a:prstGeom prst="down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Down Arrow 13"/>
          <p:cNvSpPr/>
          <p:nvPr/>
        </p:nvSpPr>
        <p:spPr>
          <a:xfrm>
            <a:off x="2439333" y="2003376"/>
            <a:ext cx="484632" cy="978408"/>
          </a:xfrm>
          <a:prstGeom prst="down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1132763" y="5704764"/>
            <a:ext cx="3166283" cy="13606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r>
              <a:rPr lang="en-US" dirty="0"/>
              <a:t>Efficiency and healthy work environment </a:t>
            </a:r>
          </a:p>
        </p:txBody>
      </p:sp>
    </p:spTree>
    <p:extLst>
      <p:ext uri="{BB962C8B-B14F-4D97-AF65-F5344CB8AC3E}">
        <p14:creationId xmlns:p14="http://schemas.microsoft.com/office/powerpoint/2010/main" val="3144219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79026" y="446689"/>
            <a:ext cx="8911687" cy="128089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EMOTIONAL </a:t>
            </a:r>
            <a:r>
              <a:rPr lang="en-US" b="1" dirty="0"/>
              <a:t>EXPRESSION &amp; INTERDEPENDENCE 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75313" y="1727579"/>
            <a:ext cx="8915400" cy="3777622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1728616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403</TotalTime>
  <Words>376</Words>
  <Application>Microsoft Office PowerPoint</Application>
  <PresentationFormat>Widescreen</PresentationFormat>
  <Paragraphs>46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Century Gothic</vt:lpstr>
      <vt:lpstr>Wingdings</vt:lpstr>
      <vt:lpstr>Wingdings 3</vt:lpstr>
      <vt:lpstr>Wisp</vt:lpstr>
      <vt:lpstr>Importance of Business Communication</vt:lpstr>
      <vt:lpstr>Business Communication- Origin &amp; Entomology</vt:lpstr>
      <vt:lpstr>Communication in Context of Business What &amp; Why?</vt:lpstr>
      <vt:lpstr>HOW Business Communication?  depends on the functions performed by communication. These functions are as follows </vt:lpstr>
      <vt:lpstr>Controlling Factors of Business Communication:</vt:lpstr>
      <vt:lpstr>Key Ingredient for Business Communication? (Motivation)</vt:lpstr>
      <vt:lpstr>EMOTIONAL EXPRESSION &amp; INTERDEPENDENCE 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Importance of Business Communication</dc:title>
  <dc:creator>Drona_Maps</dc:creator>
  <cp:lastModifiedBy>Drona_Maps</cp:lastModifiedBy>
  <cp:revision>33</cp:revision>
  <dcterms:created xsi:type="dcterms:W3CDTF">2020-01-07T14:56:16Z</dcterms:created>
  <dcterms:modified xsi:type="dcterms:W3CDTF">2020-01-08T18:20:16Z</dcterms:modified>
</cp:coreProperties>
</file>